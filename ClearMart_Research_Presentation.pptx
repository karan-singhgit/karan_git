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5-Year Projected GMV Growth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GMV (₹ Crore)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320</c:v>
                </c:pt>
                <c:pt idx="2">
                  <c:v>900</c:v>
                </c:pt>
                <c:pt idx="3">
                  <c:v>2200</c:v>
                </c:pt>
                <c:pt idx="4">
                  <c:v>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54864" cy="3108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7772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ClearMart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Surplus Marketplace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Paper on a Platform That Converts Manufacturer Overstock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Consumer Value — Eliminating Waste Across Every Industry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25146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$163B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9136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retail overstock waste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66160" y="3474720"/>
            <a:ext cx="25146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66160" y="39136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unsold per season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0" y="3474720"/>
            <a:ext cx="25146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39136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prefer discount deals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 |  Concept &amp; Market Analysis  | 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Inventory Cycle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393192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MANUFACTURER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Produces stock based on forecasted demand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Demand shifts — excess inventory piles up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Storage costs erode margins daily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Forced to destroy or deeply discount in desperation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No real-time channel to liquidate efficiently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Cannot calibrate future production accurately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417320"/>
            <a:ext cx="393192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63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CONSUMER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Great deals scattered across many websites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 single platform for surplus/clearance goods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Price-sensitive buyers miss quality products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Sale events happen infrequently (once a year)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Low-income consumers underserved daily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Trust issues with random discount sellers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5968" y="2651760"/>
            <a:ext cx="512064" cy="51206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Big Sale Events Happen Only Once or Twice a Year?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4320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Accumulation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let surplus pile up for months before it becomes economical to organize a sale event. Running sales constantly feels operationally expensive.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74320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94760" y="15727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ROI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91840" y="193852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seasonal sales (Diwali, Black Friday, New Year) create massive demand spikes. Companies bundle unsold stock here for maximum reach at one shot.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463040"/>
            <a:ext cx="274320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15727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Psychology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72200" y="193852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discounting trains consumers to never pay full price. Companies fear brand dilution and hold off until absolutely necessary.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154680"/>
            <a:ext cx="274320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246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3264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Channel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36301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existing platform designed to absorb daily manufacturer surplus at fair prices for both the seller and buyer simultaneously.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154680"/>
            <a:ext cx="274320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3246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94760" y="3264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Failure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91840" y="36301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 is imprecise. By the time a company realises overproduction, the season has passed and stock sits in warehouses.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3154680"/>
            <a:ext cx="274320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80760" y="3246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75120" y="3264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Cost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72200" y="36301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brand manages its own discount cycles independently. No cross-industry coordination exists to liquidate surplus continuously.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ClearMart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Permanent, Real-Time Surplus Marketplace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10515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556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ClearMart is a dedicated e-commerce platform where manufacturers and companies list their excess, slow-moving, or demand-adjusted inventory at reduced margins — EVERY DAY. Instead of waiting for seasonal sales, surplus products reach price-conscious consumers instantly, reducing waste and giving companies a continuous liquidation channel.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926080"/>
            <a:ext cx="27432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5488" y="354787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Deals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391363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days a year, fresh discounted products listed daily — not just during sale season.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29260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2926080"/>
            <a:ext cx="27432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55848" y="354787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Win-Win 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55848" y="391363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recover margin on dead stock. Consumers get genuine value, not fake discounts.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29260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92608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🌱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36208" y="354787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Waste Vision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36208" y="391363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inventory finds buyers before it's destroyed — better for companies and the planet.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MECHANICS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ClearMart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832" y="143560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Registers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89280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onboards, connects inventory management system via API or manual listing. Sets surplus threshold triggers.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2011680"/>
            <a:ext cx="73152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132588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9272" y="141732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9624" y="143560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Surplus Detection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89280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Platform's AI monitors stock levels vs. real-time demand signals. Flags products eligible for clearance listing.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16752" y="2011680"/>
            <a:ext cx="73152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35624" y="132588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7064" y="141732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57416" y="143560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45352" y="189280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suggests optimal discount % — deep enough to attract buyers, shallow enough to preserve meaningful margin.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10896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20040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1832" y="321868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Goes Live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" y="367588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item appears on ClearMart with countdown timer, quantity indicator, and verified savings badge.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08960" y="3794760"/>
            <a:ext cx="73152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27832" y="310896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19272" y="320040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927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9624" y="321868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Purchases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37560" y="367588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gets genuine deal. Payment processed. Fulfillment handled by manufacturer or ClearMart logistics partner.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16752" y="3794760"/>
            <a:ext cx="73152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35624" y="310896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27064" y="320040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27064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57416" y="321868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Loop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45352" y="367588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feeds back to manufacturer for smarter future production. Less overproduction over time.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ClearMart Serves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sector that produces physical goods faces surplus. ClearMart is industry-agnostic.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709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👗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&amp; Apparel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collections, end-of-line styles, size overruns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16002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709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42032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42032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Previous-gen models, open-box, refurbished units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16002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1709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18304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FMCG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18304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Near-expiry stock, overproduction, packaging redesigns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03136" y="16002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3136" y="1709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🛋️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94576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&amp; Home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94576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models, discontinued SKUs, bulk manufacturing excess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32644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💊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6576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&amp; Health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wellness products, OTC medicines near expiry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50592" y="31546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50592" y="32644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542032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Accessories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42032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overruns, service consumables, seasonal items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26864" y="31546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26864" y="32644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718304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&amp; Stationery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18304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Overprinted editions, stationery overstock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03136" y="31546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03136" y="32644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🧸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894576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Toys &amp; Games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94576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Post-festival surplus, discontinued product lines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Dynamic Pricing Engine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56032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SIGNALS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inventory level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production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demand curve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/ time of year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browse data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651760" cy="21031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20116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63640" y="1280160"/>
            <a:ext cx="2560320" cy="3566160"/>
          </a:xfrm>
          <a:prstGeom prst="rect">
            <a:avLst/>
          </a:prstGeom>
          <a:solidFill>
            <a:srgbClr val="1A3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173736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D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discount %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D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label (Hot Deal / Last Few)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D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sell-through date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D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listing duration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D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suggestions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D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Re-order advice to manufacturer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07792" y="2651760"/>
            <a:ext cx="36576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2651760"/>
            <a:ext cx="36576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formula: Discount % = f(stock_age, demand_gap, category_sensitivity)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Wins on ClearMart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74320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99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Manufacturers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920240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margin on dead stock instead of destroying it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demand intelligence for future production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brand-safe liquidation channel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warehouse storage cost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price-sensitive market segment without diluting main brand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27832" y="132588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325880"/>
            <a:ext cx="274320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399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Consumers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genuine high discounts every single day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platform — no hunting across websites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branded products at affordable prices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lower-income buyers to access premium goods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 with savings clearly shown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35624" y="132588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1325880"/>
            <a:ext cx="2743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1399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Society &amp; Planet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5352" y="1920240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reduction in product waste and destruction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carbon footprint from reduced overproduction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inclusion for budget-conscious households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sustainable consumption patterns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circular economy thinking in manufacturing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ClearMart Generates Revenue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25196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1097280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83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3-8%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463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per Sale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874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ClearMart earns a percentage cut on every transaction processed through the platform.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25196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25880"/>
            <a:ext cx="1097280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783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5040" y="1463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Seller Plans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1874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listings, AI analytics access, priority placement, and bulk listing tools for manufacturers.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425196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08960"/>
            <a:ext cx="1097280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566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3246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 Subscription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3657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anonymized demand intelligence to brands to help them plan future production better.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108960"/>
            <a:ext cx="425196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08960"/>
            <a:ext cx="1097280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566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35040" y="3246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Integration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3657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from partnered logistics providers handling last-mile delivery for sellers.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1A3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0001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Flywheel Effect: More sellers → better deals → more buyers → more sellers. Platform grows virally.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CONSUMERS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Shops on ClearMart?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011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44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👨‍👩‍👧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38%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944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Middle-Income Families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3383280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Quality-conscious but price-sensitive households looking for branded goods at accessible prices.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96312" y="13258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325880"/>
            <a:ext cx="20116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444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090672" y="2011680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24%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87752" y="2944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Young Adults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06040" y="3383280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Fashion, electronics, books — high aspiration, limited budget. Perfectly served by daily deals.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72584" y="13258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2584" y="132588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1444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🏘️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266944" y="201168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21%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64024" y="2944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&amp; Tier 3 Cities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82312" y="3383280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underserved by premium brands. ClearMart makes quality accessible beyond metros.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48856" y="13258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48856" y="132588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1444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♻️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7443216" y="201168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43216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17%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0296" y="2944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 Consumers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58584" y="3383280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Eco-aware shoppers who prefer buying surplus over new production for sustainability reasons.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 That Drive Engagement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743200" cy="11430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4356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13898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 Alerts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70078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subscribe to categories. Notified instantly when a relevant product drops to target price.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1298448"/>
            <a:ext cx="2743200" cy="11430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55264" y="14356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0" y="13898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Countdown Timers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70078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sales with real-time stock counters create urgency without fake scarcity.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9904" y="1298448"/>
            <a:ext cx="2743200" cy="11430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14356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48272" y="13898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Dashboard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48272" y="170078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see live interest signals before listing — set the right price from day one.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560320"/>
            <a:ext cx="2743200" cy="11430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697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2688" y="265176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Savings Badge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2962656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shows MRP vs. ClearMart price with third-party verification for trust.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82112" y="2560320"/>
            <a:ext cx="2743200" cy="11430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55264" y="2697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🎁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40480" y="265176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Builder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2962656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can bundle related surplus items for higher average order value.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9904" y="2560320"/>
            <a:ext cx="2743200" cy="11430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2697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48272" y="265176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48272" y="2962656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earn ClearCoins on every purchase, redeemable for extra discounts on future deals.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822192"/>
            <a:ext cx="2743200" cy="11430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9593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32688" y="391363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Buy Options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" y="422452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buyers (retailers, resellers) can purchase in quantity directly from manufacturer surplus.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82112" y="3822192"/>
            <a:ext cx="2743200" cy="11430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55264" y="39593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840480" y="391363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0480" y="422452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feed based on browsing history, past purchases, and stated preferences.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89904" y="3822192"/>
            <a:ext cx="2743200" cy="11430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39593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748272" y="391363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48272" y="422452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regional languages to penetrate Tier 2/3 markets effectively across India.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Multi-Trillion Dollar Problem to Solve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011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447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$163B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retail overstock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3258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325880"/>
            <a:ext cx="20116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4447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42032" y="19933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produced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unsold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3258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32588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4447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18304" y="19933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of food wasted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globally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13258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32588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4447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94576" y="19933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 online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in India alone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2880360"/>
          <a:ext cx="84124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ClearMart Differs From Existing Platforms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347472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371600"/>
                <a:gridCol w="1737360"/>
                <a:gridCol w="16459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Amazon/Flipkart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Meesho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Brand Sales Events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</a:rPr>
                        <a:t>ClearMart ✓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8C0D6"/>
                          </a:solidFill>
                        </a:rPr>
                        <a:t>Dedicated surplus/overstock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8C0D6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8C0D6"/>
                          </a:solidFill>
                        </a:rPr>
                        <a:t>Daily fresh deals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8C0D6"/>
                          </a:solidFill>
                        </a:rPr>
                        <a:t>Manufacturer direct listing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8C0D6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8C0D6"/>
                          </a:solidFill>
                        </a:rPr>
                        <a:t>AI dynamic pricing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8C0D6"/>
                          </a:solidFill>
                        </a:rPr>
                        <a:t>Demand feedback to producers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8C0D6"/>
                          </a:solidFill>
                        </a:rPr>
                        <a:t>Price-sensitive buyer focus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8C0D6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8C0D6"/>
                          </a:solidFill>
                        </a:rPr>
                        <a:t>Waste reduction mission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ClearMart is the ONLY platform purpose-built around manufacturer surplus with daily dynamic pricing.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Business — A Platform with Purpose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402336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💙  Economic Inclusion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branded quality goods to buyers who previously could not afford them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rural and Tier 3 consumers to shop quality over quantity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aspiration gap between income classes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jobs in logistics, curation, and platform operations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and small manufacturers get a credible surplus channel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298448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98448"/>
            <a:ext cx="40233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Environmental Impact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847088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millions of units from being destroyed or landfilled annually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overproduction incentive when companies see real demand data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carbon footprint vs. producing new replacement stock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UN SDG 12: Responsible Consumption and Production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for carbon credit integration for manufacturers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Growth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743200" cy="3520440"/>
          </a:xfrm>
          <a:prstGeom prst="rect">
            <a:avLst/>
          </a:prstGeom>
          <a:solidFill>
            <a:srgbClr val="1A2F4A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274320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Months 1–6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&amp; Validate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20-30 apparel &amp; electronics brands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MVP — listing + checkout + alerts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3 metro cities (Mumbai, Delhi, Bengaluru)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₹1 Cr GMV, 10K users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1298448"/>
            <a:ext cx="2743200" cy="3520440"/>
          </a:xfrm>
          <a:prstGeom prst="rect">
            <a:avLst/>
          </a:prstGeom>
          <a:solidFill>
            <a:srgbClr val="1A2F4A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298448"/>
            <a:ext cx="274320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Months 7–18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19272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Verticals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4992" y="19659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200+ brands across 5 categories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FMCG, Food (near-expiry deals)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mobile app with AI recommendations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₹50 Cr GMV, 500K users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35624" y="1298448"/>
            <a:ext cx="2743200" cy="3520440"/>
          </a:xfrm>
          <a:prstGeom prst="rect">
            <a:avLst/>
          </a:prstGeom>
          <a:solidFill>
            <a:srgbClr val="1A2F4A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1298448"/>
            <a:ext cx="27432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Months 19–36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27064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Expansion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72784" y="19659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50+ cities including Tier 2/3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bulk buying portal for retailers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intelligence product for manufacturers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₹500 Cr GMV, 5M users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 Strategies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73152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Brand Dilution Fear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389888"/>
            <a:ext cx="91440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3898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7099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White-label sub-store option so brands control their surplus identity separately from main channel.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298448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298448"/>
            <a:ext cx="73152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Quality Perception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389888"/>
            <a:ext cx="91440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3898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17099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Verified product badges, manufacturer certification, transparent reason for surplus shown to buyer.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60320"/>
            <a:ext cx="73152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33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Supplier Adoption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2651760"/>
            <a:ext cx="91440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651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2971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Zero listing fee in Phase 1. Show ROI case studies. Assign dedicated onboarding team per industry.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56032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560320"/>
            <a:ext cx="73152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633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Price War with Main Channel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0" y="2651760"/>
            <a:ext cx="91440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651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2971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Only surplus/overstock allowed. No active-season products listed. Clear platform boundary enforced.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822192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822192"/>
            <a:ext cx="73152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8953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Logistics Complexity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29000" y="3913632"/>
            <a:ext cx="91440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39136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42336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Partner with existing 3PL networks. Seller-handles-shipping option with ClearMart verification layer.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822192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822192"/>
            <a:ext cx="73152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8953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Fake Discount Claims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55280" y="3913632"/>
            <a:ext cx="91440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39136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0" y="42336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Third-party MRP verification. Price history tracker. Strict listing policy with penalties for violations.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Doesn't Need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Sale Event.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a Platform That Makes Every Day a Sale — for the Right Products, at the Right Price, for Everyone.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ClearMart converts manufacturer loss into consumer gain — daily.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creates a living, breathing circular economy for physical goods.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companies a production safety net, reducing the fear of overstock.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opens quality markets to consumers who were priced out of mainstream retail.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just an e-commerce idea — it is a systemic fix to a trillion-dollar inefficiency.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873752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ClearMart  —  Surplus to Smiles, Every Day.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ClearMart - Dynamic Surplus Marketplace</dc:title>
  <dc:subject>PptxGenJS Presentation</dc:subject>
  <dc:creator>Research Paper</dc:creator>
  <cp:lastModifiedBy>Research Paper</cp:lastModifiedBy>
  <cp:revision>1</cp:revision>
  <dcterms:created xsi:type="dcterms:W3CDTF">2026-05-04T00:39:15Z</dcterms:created>
  <dcterms:modified xsi:type="dcterms:W3CDTF">2026-05-04T00:39:15Z</dcterms:modified>
</cp:coreProperties>
</file>